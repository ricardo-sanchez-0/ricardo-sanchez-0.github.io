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embeddedFontLst>
    <p:embeddedFont>
      <p:font typeface="Quattrocento Sans" panose="020B05020500000200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u3s3pgE4RwkGtcnWpu30pt7eS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129D6B-977F-46F1-AF6A-BF4839893C8F}">
  <a:tblStyle styleId="{9B129D6B-977F-46F1-AF6A-BF4839893C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" name="Google Shape;3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963dd77ff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" name="Google Shape;54;g3d963dd77f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963dd77ff_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963dd77ff_7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g3d963dd77ff_7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963dd77ff_6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d963dd77ff_6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963dd77ff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963dd77ff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g3d963dd77ff_6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963dd77ff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d963dd77ff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g3d963dd77ff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de-DE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 und Inhalt" type="obj">
  <p:cSld name="OBJECT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-&#10;überschrift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Quattrocento Sans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 mit Überschrift" type="objTx">
  <p:cSld name="OBJECT_WITH_CAPTION_TEXT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body" idx="1"/>
          </p:nvPr>
        </p:nvSpPr>
        <p:spPr>
          <a:xfrm>
            <a:off x="5183188" y="457201"/>
            <a:ext cx="6172200" cy="540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  <a:defRPr sz="4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1U5XosSUVjEiylYC5JGyXtD1BGmSBA83/view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drive.google.com/file/d/1151sGlh1RFdi__el7k9UHwTJv4CRp4k1/view" TargetMode="Externa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4034" y="3860710"/>
            <a:ext cx="6943932" cy="2184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4">
            <a:alphaModFix/>
          </a:blip>
          <a:srcRect t="8090"/>
          <a:stretch/>
        </p:blipFill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2"/>
          <p:cNvPicPr preferRelativeResize="0"/>
          <p:nvPr/>
        </p:nvPicPr>
        <p:blipFill rotWithShape="1">
          <a:blip r:embed="rId3">
            <a:alphaModFix/>
          </a:blip>
          <a:srcRect l="74920" r="7580" b="357"/>
          <a:stretch/>
        </p:blipFill>
        <p:spPr>
          <a:xfrm>
            <a:off x="-1" y="-6761"/>
            <a:ext cx="3942735" cy="6869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0062" y="741725"/>
            <a:ext cx="2338636" cy="644624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>
            <a:spLocks noGrp="1"/>
          </p:cNvSpPr>
          <p:nvPr>
            <p:ph type="ctrTitle"/>
          </p:nvPr>
        </p:nvSpPr>
        <p:spPr>
          <a:xfrm>
            <a:off x="4385186" y="1720644"/>
            <a:ext cx="7128388" cy="2418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Quattrocento Sans"/>
              <a:buNone/>
            </a:pPr>
            <a:r>
              <a:rPr lang="de-DE" sz="6600"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66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Quattrocento Sans"/>
              <a:buNone/>
            </a:pPr>
            <a:r>
              <a:rPr lang="de-DE" sz="6600">
                <a:latin typeface="Quattrocento Sans"/>
                <a:ea typeface="Quattrocento Sans"/>
                <a:cs typeface="Quattrocento Sans"/>
                <a:sym typeface="Quattrocento Sans"/>
              </a:rPr>
              <a:t>Lobes of Confusion</a:t>
            </a:r>
            <a:endParaRPr sz="66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4385186" y="4493341"/>
            <a:ext cx="7128388" cy="190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</a:pPr>
            <a:r>
              <a:rPr lang="de-DE" sz="27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Tharan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</a:pPr>
            <a:r>
              <a:rPr lang="de-DE" sz="27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Jonathan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</a:pPr>
            <a:r>
              <a:rPr lang="de-DE" sz="27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Ricardo</a:t>
            </a:r>
            <a:endParaRPr sz="2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</a:pPr>
            <a:r>
              <a:rPr lang="de-DE" sz="27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Nicholas</a:t>
            </a:r>
            <a:endParaRPr sz="27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attrocento Sans"/>
              <a:buNone/>
            </a:pPr>
            <a:r>
              <a:rPr lang="de-DE" sz="2700" b="0" i="0" u="none" strike="noStrike" cap="non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Aaron</a:t>
            </a:r>
            <a:endParaRPr sz="2700" b="0" i="0" u="none" strike="noStrike" cap="non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de-DE"/>
              <a:t>Introduction</a:t>
            </a:r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4329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de-DE">
                <a:solidFill>
                  <a:srgbClr val="FFFFFF"/>
                </a:solidFill>
              </a:rPr>
              <a:t>Stroke survivors suffer from upper-limb motor impairment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de-DE">
                <a:solidFill>
                  <a:srgbClr val="FFFFFF"/>
                </a:solidFill>
              </a:rPr>
              <a:t>Brain-Computer Interfaces (BCIs) and  Functional Electrical Stimulation (FES) is a promising rehabilitation approach</a:t>
            </a:r>
            <a:br>
              <a:rPr lang="de-DE">
                <a:solidFill>
                  <a:srgbClr val="FFFFFF"/>
                </a:solidFill>
              </a:rPr>
            </a:br>
            <a:endParaRPr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de-DE" u="sng">
                <a:solidFill>
                  <a:srgbClr val="FFFFFF"/>
                </a:solidFill>
              </a:rPr>
              <a:t>Goal</a:t>
            </a:r>
            <a:r>
              <a:rPr lang="de-DE">
                <a:solidFill>
                  <a:srgbClr val="FFFFFF"/>
                </a:solidFill>
              </a:rPr>
              <a:t>: Optimize a preprocessing, feature extraction, and classification algorithm to improve BCI decoding accuracy in motor imagery task.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7343" y="230188"/>
            <a:ext cx="2338636" cy="64462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0" name="Google Shape;50;p3" title="BCI.jpg"/>
          <p:cNvPicPr preferRelativeResize="0"/>
          <p:nvPr/>
        </p:nvPicPr>
        <p:blipFill rotWithShape="1">
          <a:blip r:embed="rId4">
            <a:alphaModFix/>
          </a:blip>
          <a:srcRect t="5169" b="3180"/>
          <a:stretch/>
        </p:blipFill>
        <p:spPr>
          <a:xfrm>
            <a:off x="7404300" y="1772863"/>
            <a:ext cx="4304099" cy="44567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 txBox="1"/>
          <p:nvPr/>
        </p:nvSpPr>
        <p:spPr>
          <a:xfrm>
            <a:off x="10315825" y="5935925"/>
            <a:ext cx="13737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Mane at al., 2022</a:t>
            </a:r>
            <a:endParaRPr sz="1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963dd77ff_1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de-DE"/>
              <a:t>Introduction</a:t>
            </a:r>
            <a:endParaRPr/>
          </a:p>
        </p:txBody>
      </p:sp>
      <p:sp>
        <p:nvSpPr>
          <p:cNvPr id="57" name="Google Shape;57;g3d963dd77ff_1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de-DE">
                <a:solidFill>
                  <a:srgbClr val="FFFFFF"/>
                </a:solidFill>
              </a:rPr>
              <a:t>Previous Pipelines: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de-DE">
                <a:solidFill>
                  <a:srgbClr val="FFFFFF"/>
                </a:solidFill>
              </a:rPr>
              <a:t>CSP + LDA - established state-of-the-art baseline for motor imagery BCI classification</a:t>
            </a:r>
            <a:endParaRPr>
              <a:solidFill>
                <a:srgbClr val="FFFFFF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de-DE">
                <a:solidFill>
                  <a:srgbClr val="FFFFFF"/>
                </a:solidFill>
              </a:rPr>
              <a:t>simple, robust, widely used</a:t>
            </a:r>
            <a:br>
              <a:rPr lang="de-DE">
                <a:solidFill>
                  <a:srgbClr val="FFFFFF"/>
                </a:solidFill>
              </a:rPr>
            </a:br>
            <a:endParaRPr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de-DE">
                <a:solidFill>
                  <a:srgbClr val="FFFFFF"/>
                </a:solidFill>
              </a:rPr>
              <a:t>PCA + TVLDA - more recent time-variant approach that explicitly models transient brain patterns during motor imagery tasks</a:t>
            </a:r>
            <a:endParaRPr>
              <a:solidFill>
                <a:srgbClr val="FFFFFF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</a:pPr>
            <a:r>
              <a:rPr lang="de-DE">
                <a:solidFill>
                  <a:srgbClr val="FFFFFF"/>
                </a:solidFill>
              </a:rPr>
              <a:t>achieves higher accuracy than CSP+LDA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8" name="Google Shape;58;g3d963dd77ff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7343" y="230188"/>
            <a:ext cx="2338636" cy="64462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g3d963dd77ff_1_0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963dd77ff_7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Approach</a:t>
            </a:r>
            <a:endParaRPr/>
          </a:p>
        </p:txBody>
      </p:sp>
      <p:pic>
        <p:nvPicPr>
          <p:cNvPr id="73" name="Google Shape;73;g3d963dd77ff_7_0" title="EEG_Preprocess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903" y="1652538"/>
            <a:ext cx="9750198" cy="46973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g3d963dd77ff_7_0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75" name="Google Shape;75;g3d963dd77ff_7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37343" y="230188"/>
            <a:ext cx="2338636" cy="64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de-DE"/>
              <a:t>RESULTS</a:t>
            </a:r>
            <a:br>
              <a:rPr lang="de-DE"/>
            </a:br>
            <a:r>
              <a:rPr lang="de-DE"/>
              <a:t>OUTCOME</a:t>
            </a:r>
            <a:endParaRPr/>
          </a:p>
        </p:txBody>
      </p:sp>
      <p:pic>
        <p:nvPicPr>
          <p:cNvPr id="81" name="Google Shape;8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7343" y="230188"/>
            <a:ext cx="2338636" cy="64462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aphicFrame>
        <p:nvGraphicFramePr>
          <p:cNvPr id="83" name="Google Shape;83;p6"/>
          <p:cNvGraphicFramePr/>
          <p:nvPr/>
        </p:nvGraphicFramePr>
        <p:xfrm>
          <a:off x="1780813" y="233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{9B129D6B-977F-46F1-AF6A-BF4839893C8F}</a:tableStyleId>
              </a:tblPr>
              <a:tblGrid>
                <a:gridCol w="13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207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Subject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0:0"/>
                      </a:ext>
                    </a:extLst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Stage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0:1"/>
                      </a:ext>
                    </a:extLst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CSP + LDA (g.tec)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0:2"/>
                      </a:ext>
                    </a:extLst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PCA + TVLDA (g.tec)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0:3"/>
                      </a:ext>
                    </a:extLst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CSP + LDA</a:t>
                      </a:r>
                      <a:r>
                        <a:rPr lang="de-DE" sz="1500" b="1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de-DE" sz="1500" b="1"/>
                        <a:t> (This Work)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0:4"/>
                      </a:ext>
                    </a:extLst>
                  </a:tcPr>
                </a:tc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CSP + SVM</a:t>
                      </a:r>
                      <a:r>
                        <a:rPr lang="de-DE" sz="1500" b="1">
                          <a:solidFill>
                            <a:srgbClr val="FF0000"/>
                          </a:solidFill>
                        </a:rPr>
                        <a:t>*</a:t>
                      </a:r>
                      <a:r>
                        <a:rPr lang="de-DE" sz="1500" b="1"/>
                        <a:t> (This Work)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0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42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P1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2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Pre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2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77.1 %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2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92.9 %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2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85.9 %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2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85.9 %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2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Post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3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93.9 %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3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97 %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3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95.7 %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3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97.1 %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3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42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P2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4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Pre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4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68.4 %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4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72.4 %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4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61 %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4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62.3 %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4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Post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5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96.1 %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5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97.4 %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5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100 %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5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100 %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5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425">
                <a:tc rowSpan="2"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 b="1"/>
                        <a:t>P3</a:t>
                      </a:r>
                      <a:endParaRPr sz="1500" b="1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6:0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Pre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6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74.4 %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6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93.6 %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6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92.4 %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6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92.4 %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6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4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Post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7:1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79.7 %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7:2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100 %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7:3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93.7 %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7:4"/>
                      </a:ext>
                    </a:extLs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500"/>
                        <a:t>100 %</a:t>
                      </a:r>
                      <a:endParaRPr sz="1500"/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7:5"/>
                      </a:ext>
                    </a:extLs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425">
                <a:tc gridSpan="6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b="1">
                          <a:solidFill>
                            <a:srgbClr val="FF0000"/>
                          </a:solidFill>
                        </a:rPr>
                        <a:t>*Window 2.5 - 7.75 sec*</a:t>
                      </a:r>
                      <a:endParaRPr sz="1800" b="1">
                        <a:solidFill>
                          <a:srgbClr val="FF0000"/>
                        </a:solidFill>
                      </a:endParaRPr>
                    </a:p>
                  </a:txBody>
                  <a:tcPr marL="28575" marR="28575" marT="19050" marB="19050" anchor="ctr">
                    <a:lnL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ellId="83:8:0"/>
                      </a:ext>
                    </a:extLs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/>
        </p:nvSpPr>
        <p:spPr>
          <a:xfrm>
            <a:off x="955132" y="79877"/>
            <a:ext cx="1028173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CSP + SVM Model Confusion Matrices (Window 2.5 - 7.75 sec)</a:t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90" name="Google Shape;9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313" y="665450"/>
            <a:ext cx="9659372" cy="5527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d963dd77ff_6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2377" y="554891"/>
            <a:ext cx="3427245" cy="311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d963dd77ff_6_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2377" y="3672445"/>
            <a:ext cx="3427245" cy="311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d963dd77ff_6_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9622" y="554891"/>
            <a:ext cx="3427245" cy="311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d963dd77ff_6_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09622" y="3672445"/>
            <a:ext cx="3427245" cy="311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d963dd77ff_6_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5132" y="554891"/>
            <a:ext cx="3427245" cy="3117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d963dd77ff_6_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5132" y="3672445"/>
            <a:ext cx="3427245" cy="311755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d963dd77ff_6_9"/>
          <p:cNvSpPr txBox="1"/>
          <p:nvPr/>
        </p:nvSpPr>
        <p:spPr>
          <a:xfrm>
            <a:off x="955132" y="79877"/>
            <a:ext cx="1028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 b="1" i="0" u="sng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CSP + SVM Model Confusion Matrices (Window 2.5 - 7.75 sec)</a:t>
            </a:r>
            <a:endParaRPr/>
          </a:p>
        </p:txBody>
      </p:sp>
      <p:sp>
        <p:nvSpPr>
          <p:cNvPr id="102" name="Google Shape;102;g3d963dd77ff_6_9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963dd77ff_6_0"/>
          <p:cNvSpPr txBox="1">
            <a:spLocks noGrp="1"/>
          </p:cNvSpPr>
          <p:nvPr>
            <p:ph type="title"/>
          </p:nvPr>
        </p:nvSpPr>
        <p:spPr>
          <a:xfrm>
            <a:off x="7604950" y="974875"/>
            <a:ext cx="4558500" cy="3432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Percentage Differences of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(LDA - SVM) Mean % Accuracies    </a:t>
            </a:r>
            <a:endParaRPr/>
          </a:p>
        </p:txBody>
      </p:sp>
      <p:pic>
        <p:nvPicPr>
          <p:cNvPr id="109" name="Google Shape;109;g3d963dd77ff_6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875" y="288550"/>
            <a:ext cx="7244749" cy="612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d963dd77ff_6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37343" y="230188"/>
            <a:ext cx="2338636" cy="64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3d963dd77ff_6_0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d963dd77ff_2_0" title="ezgif-485a42b562d20629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188" y="-511275"/>
            <a:ext cx="6469625" cy="48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d963dd77ff_2_0" title="ezgif-4f96bef3a4f5abed.mp4">
            <a:hlinkClick r:id="rId5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200" y="3234839"/>
            <a:ext cx="6469600" cy="48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d963dd77ff_2_0"/>
          <p:cNvSpPr txBox="1"/>
          <p:nvPr/>
        </p:nvSpPr>
        <p:spPr>
          <a:xfrm>
            <a:off x="260500" y="4942165"/>
            <a:ext cx="2369700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CSP + LDA</a:t>
            </a:r>
            <a:endParaRPr sz="2800" b="1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0" name="Google Shape;120;g3d963dd77ff_2_0"/>
          <p:cNvSpPr txBox="1"/>
          <p:nvPr/>
        </p:nvSpPr>
        <p:spPr>
          <a:xfrm>
            <a:off x="260500" y="1319925"/>
            <a:ext cx="2369700" cy="11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800" b="1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CSP + SVM</a:t>
            </a:r>
            <a:endParaRPr sz="2800" b="1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1" name="Google Shape;121;g3d963dd77ff_2_0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Quattrocento Sans"/>
              <a:buNone/>
            </a:pPr>
            <a:r>
              <a:rPr lang="de-DE"/>
              <a:t>Conclusion</a:t>
            </a:r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Our results show that different patients can have different optimal timing windows that maximize model accuracy.</a:t>
            </a:r>
            <a:br>
              <a:rPr lang="de-DE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Each patient’s lesion is different and emphasize the need for BCI algorithms that are personalized for clinical use.</a:t>
            </a:r>
            <a:br>
              <a:rPr lang="de-DE"/>
            </a:b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de-DE"/>
              <a:t>Classification accuracy was the worst for P1 that contained the most artifacts - BCI algorithms should include adaptive artifact rejection algorithms.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7343" y="230188"/>
            <a:ext cx="2338636" cy="64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37343" y="230188"/>
            <a:ext cx="2338636" cy="64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6974" y="2140600"/>
            <a:ext cx="7679525" cy="4341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 txBox="1"/>
          <p:nvPr/>
        </p:nvSpPr>
        <p:spPr>
          <a:xfrm>
            <a:off x="70200" y="6311900"/>
            <a:ext cx="2155800" cy="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0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35</a:t>
            </a:r>
            <a:endParaRPr sz="200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85</Paragraphs>
  <Slides>12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Quattrocento Sans</vt:lpstr>
      <vt:lpstr>Office</vt:lpstr>
      <vt:lpstr>PowerPoint Presentation</vt:lpstr>
      <vt:lpstr>Group 35 Lobes of Confusion</vt:lpstr>
      <vt:lpstr>Introduction</vt:lpstr>
      <vt:lpstr>Introduction</vt:lpstr>
      <vt:lpstr>Approach</vt:lpstr>
      <vt:lpstr>RESULTS OUTCOME</vt:lpstr>
      <vt:lpstr>PowerPoint Presentation</vt:lpstr>
      <vt:lpstr>PowerPoint Presentation</vt:lpstr>
      <vt:lpstr>Percentage Differences of  (LDA - SVM) Mean % Accuracies    </vt:lpstr>
      <vt:lpstr>PowerPoint Presentation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Sarah Breinbauer</dc:creator>
  <cp:lastModifiedBy>Ricardo Alejandro Sanchez</cp:lastModifiedBy>
  <cp:revision>1</cp:revision>
  <dcterms:created xsi:type="dcterms:W3CDTF">2019-05-13T13:03:50Z</dcterms:created>
  <dcterms:modified xsi:type="dcterms:W3CDTF">2026-10-05T17:07:17Z</dcterms:modified>
</cp:coreProperties>
</file>